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635a13412c4112" /><Relationship Type="http://schemas.openxmlformats.org/officeDocument/2006/relationships/extended-properties" Target="/docProps/app.xml" Id="R60b78d8dc339411e" /><Relationship Type="http://schemas.openxmlformats.org/officeDocument/2006/relationships/officeDocument" Target="/ppt/presentation.xml" Id="Re0a66af169c341af" /></Relationships>
</file>

<file path=ppt/presentation.xml><?xml version="1.0" encoding="utf-8"?>
<p:presentation xmlns:p="http://schemas.openxmlformats.org/presentationml/2006/main">
  <p:sldMasterIdLst>
    <p:sldMasterId xmlns:r="http://schemas.openxmlformats.org/officeDocument/2006/relationships" id="2147483648" r:id="R35589b2d27f049c5"/>
  </p:sldMasterIdLst>
  <p:notesMasterIdLst>
    <p:notesMasterId xmlns:r="http://schemas.openxmlformats.org/officeDocument/2006/relationships" r:id="Rc821a699eaee4663"/>
  </p:notesMasterIdLst>
  <p:sldIdLst>
    <p:sldId xmlns:r="http://schemas.openxmlformats.org/officeDocument/2006/relationships" id="256" r:id="R0ef1ac5267654f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43d806d3f446ba" /><Relationship Type="http://schemas.openxmlformats.org/officeDocument/2006/relationships/slideMaster" Target="/ppt/slideMasters/slideMaster1.xml" Id="R35589b2d27f049c5" /><Relationship Type="http://schemas.openxmlformats.org/officeDocument/2006/relationships/notesMaster" Target="/ppt/notesMasters/notesMaster1.xml" Id="Rc821a699eaee4663" /><Relationship Type="http://schemas.openxmlformats.org/officeDocument/2006/relationships/presProps" Target="/ppt/presProps.xml" Id="Rb1be84197d724eb1" /><Relationship Type="http://schemas.openxmlformats.org/officeDocument/2006/relationships/tableStyles" Target="/ppt/tableStyles.xml" Id="Re0cc1ecce3df4df7" /><Relationship Type="http://schemas.openxmlformats.org/officeDocument/2006/relationships/slide" Target="/ppt/slides/slide1.xml" Id="R0ef1ac5267654f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deec1329f84c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bb213e90384f41" /><Relationship Type="http://schemas.openxmlformats.org/officeDocument/2006/relationships/notesMaster" Target="/ppt/notesMasters/notesMaster1.xml" Id="R2a9ea459bc1c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#2</a:t>
            </a:r>
          </a:p>
          <a:p xmlns:a="http://schemas.openxmlformats.org/drawingml/2006/main">
            <a:r>
              <a:t>60-second narration script</a:t>
            </a:r>
          </a:p>
          <a:p xmlns:a="http://schemas.openxmlformats.org/drawingml/2006/main">
            <a:r>
              <a:t/>
            </a:r>
          </a:p>
          <a:p xmlns:a="http://schemas.openxmlformats.org/drawingml/2006/main">
            <a:r>
              <a:t>Hi, I'm presenting for Team Two. This slide shows the architecture of our T-RECAP project on the DE1-SoC.</a:t>
            </a:r>
          </a:p>
          <a:p xmlns:a="http://schemas.openxmlformats.org/drawingml/2006/main">
            <a:r>
              <a:t/>
            </a:r>
          </a:p>
          <a:p xmlns:a="http://schemas.openxmlformats.org/drawingml/2006/main">
            <a:r>
              <a:t>Samples come from stored test data or an audio input. The FPGA applies a window and FFT, uses a programmable threshold to suppress selected frequency bins, then reconstructs the signal with an inverse FFT and weighted overlap-add.</a:t>
            </a:r>
          </a:p>
          <a:p xmlns:a="http://schemas.openxmlformats.org/drawingml/2006/main">
            <a:r>
              <a:t/>
            </a:r>
          </a:p>
          <a:p xmlns:a="http://schemas.openxmlformats.org/drawingml/2006/main">
            <a:r>
              <a:t>A separate telemetry path sends data through DDR memory to the ARM processor without stalling the core. ARM forwards the data over Ethernet to our PC dashboard and configures the FPGA through control registers.</a:t>
            </a:r>
          </a:p>
          <a:p xmlns:a="http://schemas.openxmlformats.org/drawingml/2006/main">
            <a:r>
              <a:t/>
            </a:r>
          </a:p>
          <a:p xmlns:a="http://schemas.openxmlformats.org/drawingml/2006/main">
            <a:r>
              <a:t>We compare numerical results against an independent reference model. Our next steps are completing system validation and measuring energy use.</a:t>
            </a:r>
          </a:p>
          <a:p xmlns:a="http://schemas.openxmlformats.org/drawingml/2006/main">
            <a:r>
              <a:t/>
            </a:r>
          </a:p>
          <a:p xmlns:a="http://schemas.openxmlformats.org/drawingml/2006/main">
            <a:r>
              <a:t>Architecture notes</a:t>
            </a:r>
          </a:p>
          <a:p xmlns:a="http://schemas.openxmlformats.org/drawingml/2006/main">
            <a:r>
              <a:t>STFT = short-time Fourier transform. WOLA = weighted overlap-add. BRAM replay is the repeatable baseline source. Audio line-in is an alternate source. The compressed diagram omits source selection, canonicalization/spectrum construction, the DDR record writer, and the reverse configuration connection. ARM writes FPGA control registers at safe boundaries. Telemetry is best effort and may drop records under congestion rather than stall the processing core. The C++ model is a reference model, not a certified golden model. Spectral masking alone is not evidence of lower measured electrical energy. The FPGA core performs FFT, masking, IFFT, and WOLA. The ARM processor handles control and transport.</a:t>
            </a:r>
          </a:p>
          <a:p xmlns:a="http://schemas.openxmlformats.org/drawingml/2006/main">
            <a:r>
              <a:t/>
            </a:r>
          </a:p>
          <a:p xmlns:a="http://schemas.openxmlformats.org/drawingml/2006/main">
            <a:r>
              <a:t>Sources</a:t>
            </a:r>
          </a:p>
          <a:p xmlns:a="http://schemas.openxmlformats.org/drawingml/2006/main">
            <a:r>
              <a:t>Project architecture and RTL: T_RECAP_Phase2_R1_delay_history_fix_v70, rtl/core/trecap_core_top.sv, processing-chain declarations and instantiations. See the project architecture document for the complete system and control paths.</a:t>
            </a:r>
          </a:p>
          <a:p xmlns:a="http://schemas.openxmlformats.org/drawingml/2006/main">
            <a:r>
              <a:t>ASU Brand Guide, Color: https://brandguide.asu.edu/brand-elements/design/color (maroon #8C1D40 and gold #FFC627).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c33312b74d47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1ed7e4513f4ac9" /><Relationship Type="http://schemas.openxmlformats.org/officeDocument/2006/relationships/slideLayout" Target="/ppt/slideLayouts/slideLayout1.xml" Id="R35a8b2c3269145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a8b2c3269145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80b133ae50425b" /><Relationship Type="http://schemas.openxmlformats.org/officeDocument/2006/relationships/notesSlide" Target="/ppt/notesSlides/notesSlide1.xml" Id="R5f0ec6af9d8343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header">
            <a:extLst xmlns:a="http://schemas.openxmlformats.org/drawingml/2006/main">
              <a:ext uri="{FF2B5EF4-FFF2-40B4-BE49-F238E27FC236}">
                <a16:creationId xmlns:a16="http://schemas.microsoft.com/office/drawing/2014/main" id="{796A446E-0F82-4CAC-A5FA-D0F81B56ECFD}"/>
              </a:ext>
            </a:extLst>
          </p:cNvPr>
          <p:cNvSpPr>
            <a:spLocks xmlns:a="http://schemas.openxmlformats.org/drawingml/2006/main" noGrp="1"/>
          </p:cNvSpPr>
          <p:nvPr/>
        </p:nvSpPr>
        <p:spPr>
          <a:xfrm xmlns:a="http://schemas.openxmlformats.org/drawingml/2006/main">
            <a:off x="0" y="0"/>
            <a:ext cx="12192000" cy="1466850"/>
          </a:xfrm>
          <a:prstGeom xmlns:a="http://schemas.openxmlformats.org/drawingml/2006/main" prst="rect">
            <a:avLst/>
          </a:prstGeom>
          <a:solidFill xmlns:a="http://schemas.openxmlformats.org/drawingml/2006/main">
            <a:srgbClr val="8C1D40"/>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62BCF3E0-B282-45C4-B5B6-718A7E9B3B4D}"/>
              </a:ext>
            </a:extLst>
          </p:cNvPr>
          <p:cNvSpPr>
            <a:spLocks xmlns:a="http://schemas.openxmlformats.org/drawingml/2006/main" noGrp="1"/>
          </p:cNvSpPr>
          <p:nvPr/>
        </p:nvSpPr>
        <p:spPr>
          <a:xfrm xmlns:a="http://schemas.openxmlformats.org/drawingml/2006/main">
            <a:off x="533400" y="3810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450" b="1">
                <a:solidFill>
                  <a:srgbClr val="FFFFFF"/>
                </a:solidFill>
                <a:latin typeface="Arial"/>
                <a:ea typeface="Arial"/>
                <a:cs typeface="Arial"/>
              </a:defRPr>
            </a:pPr>
            <a:r>
              <a:rPr sz="3450" b="1">
                <a:solidFill>
                  <a:srgbClr val="FFFFFF"/>
                </a:solidFill>
                <a:latin typeface="Arial"/>
                <a:ea typeface="Arial"/>
                <a:cs typeface="Arial"/>
              </a:rPr>
              <a:t>T-RECAP System Architecture</a:t>
            </a:r>
          </a:p>
        </p:txBody>
      </p:sp>
      <p:sp>
        <p:nvSpPr>
          <p:cNvPr id="3" name="team">
            <a:extLst xmlns:a="http://schemas.openxmlformats.org/drawingml/2006/main">
              <a:ext uri="{FF2B5EF4-FFF2-40B4-BE49-F238E27FC236}">
                <a16:creationId xmlns:a16="http://schemas.microsoft.com/office/drawing/2014/main" id="{7A27F660-B556-4185-BA9A-65ABCBEBB935}"/>
              </a:ext>
            </a:extLst>
          </p:cNvPr>
          <p:cNvSpPr>
            <a:spLocks xmlns:a="http://schemas.openxmlformats.org/drawingml/2006/main" noGrp="1"/>
          </p:cNvSpPr>
          <p:nvPr/>
        </p:nvSpPr>
        <p:spPr>
          <a:xfrm xmlns:a="http://schemas.openxmlformats.org/drawingml/2006/main">
            <a:off x="10287000" y="447675"/>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2250" b="1">
                <a:solidFill>
                  <a:srgbClr val="FFC627"/>
                </a:solidFill>
                <a:latin typeface="Arial"/>
                <a:ea typeface="Arial"/>
                <a:cs typeface="Arial"/>
              </a:defRPr>
            </a:pPr>
            <a:r>
              <a:rPr sz="2250" b="1">
                <a:solidFill>
                  <a:srgbClr val="FFC627"/>
                </a:solidFill>
                <a:latin typeface="Arial"/>
                <a:ea typeface="Arial"/>
                <a:cs typeface="Arial"/>
              </a:rPr>
              <a:t>Team #2</a:t>
            </a:r>
          </a:p>
        </p:txBody>
      </p:sp>
      <p:sp>
        <p:nvSpPr>
          <p:cNvPr id="4" name="subtitle">
            <a:extLst xmlns:a="http://schemas.openxmlformats.org/drawingml/2006/main">
              <a:ext uri="{FF2B5EF4-FFF2-40B4-BE49-F238E27FC236}">
                <a16:creationId xmlns:a16="http://schemas.microsoft.com/office/drawing/2014/main" id="{D2C52621-61F2-4044-A475-1F147C8D2E76}"/>
              </a:ext>
            </a:extLst>
          </p:cNvPr>
          <p:cNvSpPr>
            <a:spLocks xmlns:a="http://schemas.openxmlformats.org/drawingml/2006/main" noGrp="1"/>
          </p:cNvSpPr>
          <p:nvPr/>
        </p:nvSpPr>
        <p:spPr>
          <a:xfrm xmlns:a="http://schemas.openxmlformats.org/drawingml/2006/main">
            <a:off x="552450" y="1028700"/>
            <a:ext cx="1110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DE1-SoC  |  FPGA signal processing with ARM control and telemetry</a:t>
            </a:r>
          </a:p>
        </p:txBody>
      </p:sp>
      <p:sp>
        <p:nvSpPr>
          <p:cNvPr id="5" name="FPGA-core-boundary">
            <a:extLst xmlns:a="http://schemas.openxmlformats.org/drawingml/2006/main">
              <a:ext uri="{FF2B5EF4-FFF2-40B4-BE49-F238E27FC236}">
                <a16:creationId xmlns:a16="http://schemas.microsoft.com/office/drawing/2014/main" id="{6B4C4FA2-3646-429B-B03E-4FDF80433DB9}"/>
              </a:ext>
            </a:extLst>
          </p:cNvPr>
          <p:cNvSpPr>
            <a:spLocks xmlns:a="http://schemas.openxmlformats.org/drawingml/2006/main" noGrp="1"/>
          </p:cNvSpPr>
          <p:nvPr/>
        </p:nvSpPr>
        <p:spPr>
          <a:xfrm xmlns:a="http://schemas.openxmlformats.org/drawingml/2006/main">
            <a:off x="2619375" y="1924050"/>
            <a:ext cx="9039225" cy="2333625"/>
          </a:xfrm>
          <a:prstGeom xmlns:a="http://schemas.openxmlformats.org/drawingml/2006/main" prst="rect">
            <a:avLst/>
          </a:prstGeom>
          <a:solidFill xmlns:a="http://schemas.openxmlformats.org/drawingml/2006/main">
            <a:srgbClr val="F8F2F4"/>
          </a:solidFill>
          <a:ln xmlns:a="http://schemas.openxmlformats.org/drawingml/2006/main" w="13335">
            <a:solidFill>
              <a:srgbClr val="DAC7CE"/>
            </a:solidFill>
            <a:prstDash val="solid"/>
          </a:ln>
        </p:spPr>
      </p:sp>
      <p:sp>
        <p:nvSpPr>
          <p:cNvPr id="6" name="core-label">
            <a:extLst xmlns:a="http://schemas.openxmlformats.org/drawingml/2006/main">
              <a:ext uri="{FF2B5EF4-FFF2-40B4-BE49-F238E27FC236}">
                <a16:creationId xmlns:a16="http://schemas.microsoft.com/office/drawing/2014/main" id="{B21D89EB-B684-499E-B100-76419680B621}"/>
              </a:ext>
            </a:extLst>
          </p:cNvPr>
          <p:cNvSpPr>
            <a:spLocks xmlns:a="http://schemas.openxmlformats.org/drawingml/2006/main" noGrp="1"/>
          </p:cNvSpPr>
          <p:nvPr/>
        </p:nvSpPr>
        <p:spPr>
          <a:xfrm xmlns:a="http://schemas.openxmlformats.org/drawingml/2006/main">
            <a:off x="2838450" y="2095500"/>
            <a:ext cx="714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b="1">
                <a:solidFill>
                  <a:srgbClr val="8C1D40"/>
                </a:solidFill>
                <a:latin typeface="Arial"/>
                <a:ea typeface="Arial"/>
                <a:cs typeface="Arial"/>
              </a:defRPr>
            </a:pPr>
            <a:r>
              <a:rPr sz="2025" b="1">
                <a:solidFill>
                  <a:srgbClr val="8C1D40"/>
                </a:solidFill>
                <a:latin typeface="Arial"/>
                <a:ea typeface="Arial"/>
                <a:cs typeface="Arial"/>
              </a:rPr>
              <a:t>FPGA  /  STFT–WOLA CORE</a:t>
            </a:r>
          </a:p>
        </p:txBody>
      </p:sp>
      <p:sp>
        <p:nvSpPr>
          <p:cNvPr id="7" name="input-label">
            <a:extLst xmlns:a="http://schemas.openxmlformats.org/drawingml/2006/main">
              <a:ext uri="{FF2B5EF4-FFF2-40B4-BE49-F238E27FC236}">
                <a16:creationId xmlns:a16="http://schemas.microsoft.com/office/drawing/2014/main" id="{7F1EDB58-393C-4DA4-BD8C-B656678EA4AA}"/>
              </a:ext>
            </a:extLst>
          </p:cNvPr>
          <p:cNvSpPr>
            <a:spLocks xmlns:a="http://schemas.openxmlformats.org/drawingml/2006/main" noGrp="1"/>
          </p:cNvSpPr>
          <p:nvPr/>
        </p:nvSpPr>
        <p:spPr>
          <a:xfrm xmlns:a="http://schemas.openxmlformats.org/drawingml/2006/main">
            <a:off x="533400" y="22669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b="1">
                <a:solidFill>
                  <a:srgbClr val="58545A"/>
                </a:solidFill>
                <a:latin typeface="Arial"/>
                <a:ea typeface="Arial"/>
                <a:cs typeface="Arial"/>
              </a:defRPr>
            </a:pPr>
            <a:r>
              <a:rPr sz="1800" b="1">
                <a:solidFill>
                  <a:srgbClr val="58545A"/>
                </a:solidFill>
                <a:latin typeface="Arial"/>
                <a:ea typeface="Arial"/>
                <a:cs typeface="Arial"/>
              </a:rPr>
              <a:t>INPUT</a:t>
            </a:r>
          </a:p>
        </p:txBody>
      </p:sp>
      <p:sp>
        <p:nvSpPr>
          <p:cNvPr id="8" name="input">
            <a:extLst xmlns:a="http://schemas.openxmlformats.org/drawingml/2006/main">
              <a:ext uri="{FF2B5EF4-FFF2-40B4-BE49-F238E27FC236}">
                <a16:creationId xmlns:a16="http://schemas.microsoft.com/office/drawing/2014/main" id="{174045CE-BE57-4062-ADB3-98A2BA9353FB}"/>
              </a:ext>
            </a:extLst>
          </p:cNvPr>
          <p:cNvSpPr>
            <a:spLocks xmlns:a="http://schemas.openxmlformats.org/drawingml/2006/main" noGrp="1"/>
          </p:cNvSpPr>
          <p:nvPr/>
        </p:nvSpPr>
        <p:spPr>
          <a:xfrm xmlns:a="http://schemas.openxmlformats.org/drawingml/2006/main">
            <a:off x="533400" y="2762250"/>
            <a:ext cx="1809750" cy="971550"/>
          </a:xfrm>
          <a:prstGeom xmlns:a="http://schemas.openxmlformats.org/drawingml/2006/main" prst="rect">
            <a:avLst/>
          </a:prstGeom>
          <a:solidFill xmlns:a="http://schemas.openxmlformats.org/drawingml/2006/main">
            <a:srgbClr val="FFFFFF"/>
          </a:solidFill>
          <a:ln xmlns:a="http://schemas.openxmlformats.org/drawingml/2006/main" w="16193">
            <a:solidFill>
              <a:srgbClr val="DAC7CE"/>
            </a:solidFill>
            <a:prstDash val="solid"/>
          </a:ln>
        </p:spPr>
      </p:sp>
      <p:sp>
        <p:nvSpPr>
          <p:cNvPr id="9" name="input-title">
            <a:extLst xmlns:a="http://schemas.openxmlformats.org/drawingml/2006/main">
              <a:ext uri="{FF2B5EF4-FFF2-40B4-BE49-F238E27FC236}">
                <a16:creationId xmlns:a16="http://schemas.microsoft.com/office/drawing/2014/main" id="{EACED733-E012-461D-9BF4-D248FC47A132}"/>
              </a:ext>
            </a:extLst>
          </p:cNvPr>
          <p:cNvSpPr>
            <a:spLocks xmlns:a="http://schemas.openxmlformats.org/drawingml/2006/main" noGrp="1"/>
          </p:cNvSpPr>
          <p:nvPr/>
        </p:nvSpPr>
        <p:spPr>
          <a:xfrm xmlns:a="http://schemas.openxmlformats.org/drawingml/2006/main">
            <a:off x="647700" y="29146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BRAM replay</a:t>
            </a:r>
          </a:p>
        </p:txBody>
      </p:sp>
      <p:sp>
        <p:nvSpPr>
          <p:cNvPr id="10" name="input-detail">
            <a:extLst xmlns:a="http://schemas.openxmlformats.org/drawingml/2006/main">
              <a:ext uri="{FF2B5EF4-FFF2-40B4-BE49-F238E27FC236}">
                <a16:creationId xmlns:a16="http://schemas.microsoft.com/office/drawing/2014/main" id="{AB74CF64-9EB8-45FA-8B0B-F8FE4B943687}"/>
              </a:ext>
            </a:extLst>
          </p:cNvPr>
          <p:cNvSpPr>
            <a:spLocks xmlns:a="http://schemas.openxmlformats.org/drawingml/2006/main" noGrp="1"/>
          </p:cNvSpPr>
          <p:nvPr/>
        </p:nvSpPr>
        <p:spPr>
          <a:xfrm xmlns:a="http://schemas.openxmlformats.org/drawingml/2006/main">
            <a:off x="628650" y="330517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or audio line-in</a:t>
            </a:r>
          </a:p>
        </p:txBody>
      </p:sp>
      <p:sp>
        <p:nvSpPr>
          <p:cNvPr id="11" name="analysis">
            <a:extLst xmlns:a="http://schemas.openxmlformats.org/drawingml/2006/main">
              <a:ext uri="{FF2B5EF4-FFF2-40B4-BE49-F238E27FC236}">
                <a16:creationId xmlns:a16="http://schemas.microsoft.com/office/drawing/2014/main" id="{5A41BD6C-5C45-4AB3-A6F9-B1838DD643E0}"/>
              </a:ext>
            </a:extLst>
          </p:cNvPr>
          <p:cNvSpPr>
            <a:spLocks xmlns:a="http://schemas.openxmlformats.org/drawingml/2006/main" noGrp="1"/>
          </p:cNvSpPr>
          <p:nvPr/>
        </p:nvSpPr>
        <p:spPr>
          <a:xfrm xmlns:a="http://schemas.openxmlformats.org/drawingml/2006/main">
            <a:off x="2952750" y="2752725"/>
            <a:ext cx="2286000" cy="990600"/>
          </a:xfrm>
          <a:prstGeom xmlns:a="http://schemas.openxmlformats.org/drawingml/2006/main" prst="rect">
            <a:avLst/>
          </a:prstGeom>
          <a:solidFill xmlns:a="http://schemas.openxmlformats.org/drawingml/2006/main">
            <a:srgbClr val="FFFFFF"/>
          </a:solidFill>
          <a:ln xmlns:a="http://schemas.openxmlformats.org/drawingml/2006/main" w="16193">
            <a:solidFill>
              <a:srgbClr val="8C1D40"/>
            </a:solidFill>
            <a:prstDash val="solid"/>
          </a:ln>
        </p:spPr>
      </p:sp>
      <p:sp>
        <p:nvSpPr>
          <p:cNvPr id="12" name="analysis-title">
            <a:extLst xmlns:a="http://schemas.openxmlformats.org/drawingml/2006/main">
              <a:ext uri="{FF2B5EF4-FFF2-40B4-BE49-F238E27FC236}">
                <a16:creationId xmlns:a16="http://schemas.microsoft.com/office/drawing/2014/main" id="{07514AD2-CB79-4719-AED9-A14A6CB03E5B}"/>
              </a:ext>
            </a:extLst>
          </p:cNvPr>
          <p:cNvSpPr>
            <a:spLocks xmlns:a="http://schemas.openxmlformats.org/drawingml/2006/main" noGrp="1"/>
          </p:cNvSpPr>
          <p:nvPr/>
        </p:nvSpPr>
        <p:spPr>
          <a:xfrm xmlns:a="http://schemas.openxmlformats.org/drawingml/2006/main">
            <a:off x="3067050" y="2905125"/>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Window + FFT</a:t>
            </a:r>
          </a:p>
        </p:txBody>
      </p:sp>
      <p:sp>
        <p:nvSpPr>
          <p:cNvPr id="13" name="analysis-detail">
            <a:extLst xmlns:a="http://schemas.openxmlformats.org/drawingml/2006/main">
              <a:ext uri="{FF2B5EF4-FFF2-40B4-BE49-F238E27FC236}">
                <a16:creationId xmlns:a16="http://schemas.microsoft.com/office/drawing/2014/main" id="{C959C1DD-90D7-4BBF-B1FA-6B15A8FFEE8A}"/>
              </a:ext>
            </a:extLst>
          </p:cNvPr>
          <p:cNvSpPr>
            <a:spLocks xmlns:a="http://schemas.openxmlformats.org/drawingml/2006/main" noGrp="1"/>
          </p:cNvSpPr>
          <p:nvPr/>
        </p:nvSpPr>
        <p:spPr>
          <a:xfrm xmlns:a="http://schemas.openxmlformats.org/drawingml/2006/main">
            <a:off x="3048000" y="32956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Time to frequency</a:t>
            </a:r>
          </a:p>
        </p:txBody>
      </p:sp>
      <p:sp>
        <p:nvSpPr>
          <p:cNvPr id="14" name="mask">
            <a:extLst xmlns:a="http://schemas.openxmlformats.org/drawingml/2006/main">
              <a:ext uri="{FF2B5EF4-FFF2-40B4-BE49-F238E27FC236}">
                <a16:creationId xmlns:a16="http://schemas.microsoft.com/office/drawing/2014/main" id="{34403E64-2B91-42BD-8E61-4E33D56AAF10}"/>
              </a:ext>
            </a:extLst>
          </p:cNvPr>
          <p:cNvSpPr>
            <a:spLocks xmlns:a="http://schemas.openxmlformats.org/drawingml/2006/main" noGrp="1"/>
          </p:cNvSpPr>
          <p:nvPr/>
        </p:nvSpPr>
        <p:spPr>
          <a:xfrm xmlns:a="http://schemas.openxmlformats.org/drawingml/2006/main">
            <a:off x="5810250" y="2752725"/>
            <a:ext cx="2286000" cy="990600"/>
          </a:xfrm>
          <a:prstGeom xmlns:a="http://schemas.openxmlformats.org/drawingml/2006/main" prst="rect">
            <a:avLst/>
          </a:prstGeom>
          <a:solidFill xmlns:a="http://schemas.openxmlformats.org/drawingml/2006/main">
            <a:srgbClr val="FFC627"/>
          </a:solidFill>
          <a:ln xmlns:a="http://schemas.openxmlformats.org/drawingml/2006/main" w="16193">
            <a:solidFill>
              <a:srgbClr val="FFC627"/>
            </a:solidFill>
            <a:prstDash val="solid"/>
          </a:ln>
        </p:spPr>
      </p:sp>
      <p:sp>
        <p:nvSpPr>
          <p:cNvPr id="15" name="mask-title">
            <a:extLst xmlns:a="http://schemas.openxmlformats.org/drawingml/2006/main">
              <a:ext uri="{FF2B5EF4-FFF2-40B4-BE49-F238E27FC236}">
                <a16:creationId xmlns:a16="http://schemas.microsoft.com/office/drawing/2014/main" id="{2AD18DB9-8BC0-484D-BAB3-F39353C382CA}"/>
              </a:ext>
            </a:extLst>
          </p:cNvPr>
          <p:cNvSpPr>
            <a:spLocks xmlns:a="http://schemas.openxmlformats.org/drawingml/2006/main" noGrp="1"/>
          </p:cNvSpPr>
          <p:nvPr/>
        </p:nvSpPr>
        <p:spPr>
          <a:xfrm xmlns:a="http://schemas.openxmlformats.org/drawingml/2006/main">
            <a:off x="5924550" y="2905125"/>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Threshold mask</a:t>
            </a:r>
          </a:p>
        </p:txBody>
      </p:sp>
      <p:sp>
        <p:nvSpPr>
          <p:cNvPr id="16" name="mask-detail">
            <a:extLst xmlns:a="http://schemas.openxmlformats.org/drawingml/2006/main">
              <a:ext uri="{FF2B5EF4-FFF2-40B4-BE49-F238E27FC236}">
                <a16:creationId xmlns:a16="http://schemas.microsoft.com/office/drawing/2014/main" id="{7E6953BC-FEF8-4F6C-B268-D6800FD808AB}"/>
              </a:ext>
            </a:extLst>
          </p:cNvPr>
          <p:cNvSpPr>
            <a:spLocks xmlns:a="http://schemas.openxmlformats.org/drawingml/2006/main" noGrp="1"/>
          </p:cNvSpPr>
          <p:nvPr/>
        </p:nvSpPr>
        <p:spPr>
          <a:xfrm xmlns:a="http://schemas.openxmlformats.org/drawingml/2006/main">
            <a:off x="5905500" y="32956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Select retained bins</a:t>
            </a:r>
          </a:p>
        </p:txBody>
      </p:sp>
      <p:sp>
        <p:nvSpPr>
          <p:cNvPr id="17" name="synthesis">
            <a:extLst xmlns:a="http://schemas.openxmlformats.org/drawingml/2006/main">
              <a:ext uri="{FF2B5EF4-FFF2-40B4-BE49-F238E27FC236}">
                <a16:creationId xmlns:a16="http://schemas.microsoft.com/office/drawing/2014/main" id="{2323C31C-AC25-4BF6-AAA3-BDF7AF79137B}"/>
              </a:ext>
            </a:extLst>
          </p:cNvPr>
          <p:cNvSpPr>
            <a:spLocks xmlns:a="http://schemas.openxmlformats.org/drawingml/2006/main" noGrp="1"/>
          </p:cNvSpPr>
          <p:nvPr/>
        </p:nvSpPr>
        <p:spPr>
          <a:xfrm xmlns:a="http://schemas.openxmlformats.org/drawingml/2006/main">
            <a:off x="8667750" y="2752725"/>
            <a:ext cx="2686050" cy="990600"/>
          </a:xfrm>
          <a:prstGeom xmlns:a="http://schemas.openxmlformats.org/drawingml/2006/main" prst="rect">
            <a:avLst/>
          </a:prstGeom>
          <a:solidFill xmlns:a="http://schemas.openxmlformats.org/drawingml/2006/main">
            <a:srgbClr val="FFFFFF"/>
          </a:solidFill>
          <a:ln xmlns:a="http://schemas.openxmlformats.org/drawingml/2006/main" w="16193">
            <a:solidFill>
              <a:srgbClr val="8C1D40"/>
            </a:solidFill>
            <a:prstDash val="solid"/>
          </a:ln>
        </p:spPr>
      </p:sp>
      <p:sp>
        <p:nvSpPr>
          <p:cNvPr id="18" name="synthesis-title">
            <a:extLst xmlns:a="http://schemas.openxmlformats.org/drawingml/2006/main">
              <a:ext uri="{FF2B5EF4-FFF2-40B4-BE49-F238E27FC236}">
                <a16:creationId xmlns:a16="http://schemas.microsoft.com/office/drawing/2014/main" id="{8D1F9AD7-AF16-4A1A-B356-9E7BE0F0A848}"/>
              </a:ext>
            </a:extLst>
          </p:cNvPr>
          <p:cNvSpPr>
            <a:spLocks xmlns:a="http://schemas.openxmlformats.org/drawingml/2006/main" noGrp="1"/>
          </p:cNvSpPr>
          <p:nvPr/>
        </p:nvSpPr>
        <p:spPr>
          <a:xfrm xmlns:a="http://schemas.openxmlformats.org/drawingml/2006/main">
            <a:off x="8782050" y="2905125"/>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IFFT + WOLA</a:t>
            </a:r>
          </a:p>
        </p:txBody>
      </p:sp>
      <p:sp>
        <p:nvSpPr>
          <p:cNvPr id="19" name="synthesis-detail">
            <a:extLst xmlns:a="http://schemas.openxmlformats.org/drawingml/2006/main">
              <a:ext uri="{FF2B5EF4-FFF2-40B4-BE49-F238E27FC236}">
                <a16:creationId xmlns:a16="http://schemas.microsoft.com/office/drawing/2014/main" id="{C9DE81AD-B9CA-48C8-88EB-48EB105E0EDF}"/>
              </a:ext>
            </a:extLst>
          </p:cNvPr>
          <p:cNvSpPr>
            <a:spLocks xmlns:a="http://schemas.openxmlformats.org/drawingml/2006/main" noGrp="1"/>
          </p:cNvSpPr>
          <p:nvPr/>
        </p:nvSpPr>
        <p:spPr>
          <a:xfrm xmlns:a="http://schemas.openxmlformats.org/drawingml/2006/main">
            <a:off x="8763000" y="3295650"/>
            <a:ext cx="2495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Reconstruct signal</a:t>
            </a:r>
          </a:p>
        </p:txBody>
      </p:sp>
      <p:cxnSp>
        <p:nvCxnSpPr>
          <p:cNvPr id="141" name=""/>
          <p:cNvCxnSpPr>
            <a:stCxn xmlns:a="http://schemas.openxmlformats.org/drawingml/2006/main" id="8" idx="3"/>
            <a:endCxn xmlns:a="http://schemas.openxmlformats.org/drawingml/2006/main" id="11" idx="1"/>
          </p:cNvCxnSpPr>
          <p:nvPr/>
        </p:nvCxnSpPr>
        <p:spPr>
          <a:xfrm xmlns:a="http://schemas.openxmlformats.org/drawingml/2006/main">
            <a:off x="2343150" y="3248025"/>
            <a:ext cx="609600"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cxnSp>
        <p:nvCxnSpPr>
          <p:cNvPr id="142" name=""/>
          <p:cNvCxnSpPr>
            <a:stCxn xmlns:a="http://schemas.openxmlformats.org/drawingml/2006/main" id="11" idx="3"/>
            <a:endCxn xmlns:a="http://schemas.openxmlformats.org/drawingml/2006/main" id="14" idx="1"/>
          </p:cNvCxnSpPr>
          <p:nvPr/>
        </p:nvCxnSpPr>
        <p:spPr>
          <a:xfrm xmlns:a="http://schemas.openxmlformats.org/drawingml/2006/main">
            <a:off x="5238750" y="3248025"/>
            <a:ext cx="571500"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cxnSp>
        <p:nvCxnSpPr>
          <p:cNvPr id="143" name=""/>
          <p:cNvCxnSpPr>
            <a:stCxn xmlns:a="http://schemas.openxmlformats.org/drawingml/2006/main" id="14" idx="3"/>
            <a:endCxn xmlns:a="http://schemas.openxmlformats.org/drawingml/2006/main" id="17" idx="1"/>
          </p:cNvCxnSpPr>
          <p:nvPr/>
        </p:nvCxnSpPr>
        <p:spPr>
          <a:xfrm xmlns:a="http://schemas.openxmlformats.org/drawingml/2006/main">
            <a:off x="8096250" y="3248025"/>
            <a:ext cx="571500"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sp>
        <p:nvSpPr>
          <p:cNvPr id="23" name="core-description">
            <a:extLst xmlns:a="http://schemas.openxmlformats.org/drawingml/2006/main">
              <a:ext uri="{FF2B5EF4-FFF2-40B4-BE49-F238E27FC236}">
                <a16:creationId xmlns:a16="http://schemas.microsoft.com/office/drawing/2014/main" id="{673144B8-06C7-484E-B876-62EA8587EA7A}"/>
              </a:ext>
            </a:extLst>
          </p:cNvPr>
          <p:cNvSpPr>
            <a:spLocks xmlns:a="http://schemas.openxmlformats.org/drawingml/2006/main" noGrp="1"/>
          </p:cNvSpPr>
          <p:nvPr/>
        </p:nvSpPr>
        <p:spPr>
          <a:xfrm xmlns:a="http://schemas.openxmlformats.org/drawingml/2006/main">
            <a:off x="2952750" y="3838575"/>
            <a:ext cx="840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b="0">
                <a:solidFill>
                  <a:srgbClr val="58545A"/>
                </a:solidFill>
                <a:latin typeface="Arial"/>
                <a:ea typeface="Arial"/>
                <a:cs typeface="Arial"/>
              </a:defRPr>
            </a:pPr>
            <a:r>
              <a:rPr sz="1725" b="0">
                <a:solidFill>
                  <a:srgbClr val="58545A"/>
                </a:solidFill>
                <a:latin typeface="Arial"/>
                <a:ea typeface="Arial"/>
                <a:cs typeface="Arial"/>
              </a:rPr>
              <a:t>Programmable spectral suppression with continuous reconstruction</a:t>
            </a:r>
          </a:p>
        </p:txBody>
      </p:sp>
      <p:sp>
        <p:nvSpPr>
          <p:cNvPr id="24" name="telemetry">
            <a:extLst xmlns:a="http://schemas.openxmlformats.org/drawingml/2006/main">
              <a:ext uri="{FF2B5EF4-FFF2-40B4-BE49-F238E27FC236}">
                <a16:creationId xmlns:a16="http://schemas.microsoft.com/office/drawing/2014/main" id="{40C94597-6E17-4E50-9E04-946991993CCD}"/>
              </a:ext>
            </a:extLst>
          </p:cNvPr>
          <p:cNvSpPr>
            <a:spLocks xmlns:a="http://schemas.openxmlformats.org/drawingml/2006/main" noGrp="1"/>
          </p:cNvSpPr>
          <p:nvPr/>
        </p:nvSpPr>
        <p:spPr>
          <a:xfrm xmlns:a="http://schemas.openxmlformats.org/drawingml/2006/main">
            <a:off x="2943225" y="4848225"/>
            <a:ext cx="2409825" cy="1000125"/>
          </a:xfrm>
          <a:prstGeom xmlns:a="http://schemas.openxmlformats.org/drawingml/2006/main" prst="rect">
            <a:avLst/>
          </a:prstGeom>
          <a:solidFill xmlns:a="http://schemas.openxmlformats.org/drawingml/2006/main">
            <a:srgbClr val="FFFFFF"/>
          </a:solidFill>
          <a:ln xmlns:a="http://schemas.openxmlformats.org/drawingml/2006/main" w="16193">
            <a:solidFill>
              <a:srgbClr val="8C1D40"/>
            </a:solidFill>
            <a:prstDash val="solid"/>
          </a:ln>
        </p:spPr>
      </p:sp>
      <p:sp>
        <p:nvSpPr>
          <p:cNvPr id="25" name="telemetry-title">
            <a:extLst xmlns:a="http://schemas.openxmlformats.org/drawingml/2006/main">
              <a:ext uri="{FF2B5EF4-FFF2-40B4-BE49-F238E27FC236}">
                <a16:creationId xmlns:a16="http://schemas.microsoft.com/office/drawing/2014/main" id="{298909F5-BC30-4DA3-A664-6E47B2A1C64C}"/>
              </a:ext>
            </a:extLst>
          </p:cNvPr>
          <p:cNvSpPr>
            <a:spLocks xmlns:a="http://schemas.openxmlformats.org/drawingml/2006/main" noGrp="1"/>
          </p:cNvSpPr>
          <p:nvPr/>
        </p:nvSpPr>
        <p:spPr>
          <a:xfrm xmlns:a="http://schemas.openxmlformats.org/drawingml/2006/main">
            <a:off x="3057525" y="5000625"/>
            <a:ext cx="2181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Telemetry FIFO</a:t>
            </a:r>
          </a:p>
        </p:txBody>
      </p:sp>
      <p:sp>
        <p:nvSpPr>
          <p:cNvPr id="26" name="telemetry-detail">
            <a:extLst xmlns:a="http://schemas.openxmlformats.org/drawingml/2006/main">
              <a:ext uri="{FF2B5EF4-FFF2-40B4-BE49-F238E27FC236}">
                <a16:creationId xmlns:a16="http://schemas.microsoft.com/office/drawing/2014/main" id="{A62078D7-48E0-4FBA-9E43-05E30D9BFE8E}"/>
              </a:ext>
            </a:extLst>
          </p:cNvPr>
          <p:cNvSpPr>
            <a:spLocks xmlns:a="http://schemas.openxmlformats.org/drawingml/2006/main" noGrp="1"/>
          </p:cNvSpPr>
          <p:nvPr/>
        </p:nvSpPr>
        <p:spPr>
          <a:xfrm xmlns:a="http://schemas.openxmlformats.org/drawingml/2006/main">
            <a:off x="3038475" y="5391150"/>
            <a:ext cx="2219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Never stalls the core</a:t>
            </a:r>
          </a:p>
        </p:txBody>
      </p:sp>
      <p:sp>
        <p:nvSpPr>
          <p:cNvPr id="27" name="ddr">
            <a:extLst xmlns:a="http://schemas.openxmlformats.org/drawingml/2006/main">
              <a:ext uri="{FF2B5EF4-FFF2-40B4-BE49-F238E27FC236}">
                <a16:creationId xmlns:a16="http://schemas.microsoft.com/office/drawing/2014/main" id="{4429BF23-1F7D-49FD-8DD8-1B574DF5C1A7}"/>
              </a:ext>
            </a:extLst>
          </p:cNvPr>
          <p:cNvSpPr>
            <a:spLocks xmlns:a="http://schemas.openxmlformats.org/drawingml/2006/main" noGrp="1"/>
          </p:cNvSpPr>
          <p:nvPr/>
        </p:nvSpPr>
        <p:spPr>
          <a:xfrm xmlns:a="http://schemas.openxmlformats.org/drawingml/2006/main">
            <a:off x="5848350" y="4848225"/>
            <a:ext cx="1695450" cy="1000125"/>
          </a:xfrm>
          <a:prstGeom xmlns:a="http://schemas.openxmlformats.org/drawingml/2006/main" prst="rect">
            <a:avLst/>
          </a:prstGeom>
          <a:solidFill xmlns:a="http://schemas.openxmlformats.org/drawingml/2006/main">
            <a:srgbClr val="FFFFFF"/>
          </a:solidFill>
          <a:ln xmlns:a="http://schemas.openxmlformats.org/drawingml/2006/main" w="16193">
            <a:solidFill>
              <a:srgbClr val="DAC7CE"/>
            </a:solidFill>
            <a:prstDash val="solid"/>
          </a:ln>
        </p:spPr>
      </p:sp>
      <p:sp>
        <p:nvSpPr>
          <p:cNvPr id="28" name="ddr-title">
            <a:extLst xmlns:a="http://schemas.openxmlformats.org/drawingml/2006/main">
              <a:ext uri="{FF2B5EF4-FFF2-40B4-BE49-F238E27FC236}">
                <a16:creationId xmlns:a16="http://schemas.microsoft.com/office/drawing/2014/main" id="{746C926C-42B9-4364-B642-5E5F48C970DF}"/>
              </a:ext>
            </a:extLst>
          </p:cNvPr>
          <p:cNvSpPr>
            <a:spLocks xmlns:a="http://schemas.openxmlformats.org/drawingml/2006/main" noGrp="1"/>
          </p:cNvSpPr>
          <p:nvPr/>
        </p:nvSpPr>
        <p:spPr>
          <a:xfrm xmlns:a="http://schemas.openxmlformats.org/drawingml/2006/main">
            <a:off x="5962650" y="5000625"/>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DDR ring</a:t>
            </a:r>
          </a:p>
        </p:txBody>
      </p:sp>
      <p:sp>
        <p:nvSpPr>
          <p:cNvPr id="29" name="ddr-detail">
            <a:extLst xmlns:a="http://schemas.openxmlformats.org/drawingml/2006/main">
              <a:ext uri="{FF2B5EF4-FFF2-40B4-BE49-F238E27FC236}">
                <a16:creationId xmlns:a16="http://schemas.microsoft.com/office/drawing/2014/main" id="{2CD3818A-F79E-426D-9868-C71D55491B39}"/>
              </a:ext>
            </a:extLst>
          </p:cNvPr>
          <p:cNvSpPr>
            <a:spLocks xmlns:a="http://schemas.openxmlformats.org/drawingml/2006/main" noGrp="1"/>
          </p:cNvSpPr>
          <p:nvPr/>
        </p:nvSpPr>
        <p:spPr>
          <a:xfrm xmlns:a="http://schemas.openxmlformats.org/drawingml/2006/main">
            <a:off x="5943600" y="539115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Shared buffer</a:t>
            </a:r>
          </a:p>
        </p:txBody>
      </p:sp>
      <p:sp>
        <p:nvSpPr>
          <p:cNvPr id="30" name="arm">
            <a:extLst xmlns:a="http://schemas.openxmlformats.org/drawingml/2006/main">
              <a:ext uri="{FF2B5EF4-FFF2-40B4-BE49-F238E27FC236}">
                <a16:creationId xmlns:a16="http://schemas.microsoft.com/office/drawing/2014/main" id="{C7AD12B4-68EE-4932-9B03-4C2737A37BDB}"/>
              </a:ext>
            </a:extLst>
          </p:cNvPr>
          <p:cNvSpPr>
            <a:spLocks xmlns:a="http://schemas.openxmlformats.org/drawingml/2006/main" noGrp="1"/>
          </p:cNvSpPr>
          <p:nvPr/>
        </p:nvSpPr>
        <p:spPr>
          <a:xfrm xmlns:a="http://schemas.openxmlformats.org/drawingml/2006/main">
            <a:off x="8029575" y="4848225"/>
            <a:ext cx="1752600" cy="1000125"/>
          </a:xfrm>
          <a:prstGeom xmlns:a="http://schemas.openxmlformats.org/drawingml/2006/main" prst="rect">
            <a:avLst/>
          </a:prstGeom>
          <a:solidFill xmlns:a="http://schemas.openxmlformats.org/drawingml/2006/main">
            <a:srgbClr val="FFFFFF"/>
          </a:solidFill>
          <a:ln xmlns:a="http://schemas.openxmlformats.org/drawingml/2006/main" w="16193">
            <a:solidFill>
              <a:srgbClr val="DAC7CE"/>
            </a:solidFill>
            <a:prstDash val="solid"/>
          </a:ln>
        </p:spPr>
      </p:sp>
      <p:sp>
        <p:nvSpPr>
          <p:cNvPr id="31" name="arm-title">
            <a:extLst xmlns:a="http://schemas.openxmlformats.org/drawingml/2006/main">
              <a:ext uri="{FF2B5EF4-FFF2-40B4-BE49-F238E27FC236}">
                <a16:creationId xmlns:a16="http://schemas.microsoft.com/office/drawing/2014/main" id="{C9792A87-2B58-4A92-B82D-59B34BA68AE1}"/>
              </a:ext>
            </a:extLst>
          </p:cNvPr>
          <p:cNvSpPr>
            <a:spLocks xmlns:a="http://schemas.openxmlformats.org/drawingml/2006/main" noGrp="1"/>
          </p:cNvSpPr>
          <p:nvPr/>
        </p:nvSpPr>
        <p:spPr>
          <a:xfrm xmlns:a="http://schemas.openxmlformats.org/drawingml/2006/main">
            <a:off x="8143875" y="50006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ARM HPS</a:t>
            </a:r>
          </a:p>
        </p:txBody>
      </p:sp>
      <p:sp>
        <p:nvSpPr>
          <p:cNvPr id="32" name="arm-detail">
            <a:extLst xmlns:a="http://schemas.openxmlformats.org/drawingml/2006/main">
              <a:ext uri="{FF2B5EF4-FFF2-40B4-BE49-F238E27FC236}">
                <a16:creationId xmlns:a16="http://schemas.microsoft.com/office/drawing/2014/main" id="{B9432191-3D64-429A-9CFE-2E7ACF9DE19A}"/>
              </a:ext>
            </a:extLst>
          </p:cNvPr>
          <p:cNvSpPr>
            <a:spLocks xmlns:a="http://schemas.openxmlformats.org/drawingml/2006/main" noGrp="1"/>
          </p:cNvSpPr>
          <p:nvPr/>
        </p:nvSpPr>
        <p:spPr>
          <a:xfrm xmlns:a="http://schemas.openxmlformats.org/drawingml/2006/main">
            <a:off x="8124825" y="539115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Control + UDP</a:t>
            </a:r>
          </a:p>
        </p:txBody>
      </p:sp>
      <p:sp>
        <p:nvSpPr>
          <p:cNvPr id="33" name="pc">
            <a:extLst xmlns:a="http://schemas.openxmlformats.org/drawingml/2006/main">
              <a:ext uri="{FF2B5EF4-FFF2-40B4-BE49-F238E27FC236}">
                <a16:creationId xmlns:a16="http://schemas.microsoft.com/office/drawing/2014/main" id="{545F558D-BEEB-4158-AA52-7058D096DE01}"/>
              </a:ext>
            </a:extLst>
          </p:cNvPr>
          <p:cNvSpPr>
            <a:spLocks xmlns:a="http://schemas.openxmlformats.org/drawingml/2006/main" noGrp="1"/>
          </p:cNvSpPr>
          <p:nvPr/>
        </p:nvSpPr>
        <p:spPr>
          <a:xfrm xmlns:a="http://schemas.openxmlformats.org/drawingml/2006/main">
            <a:off x="10267950" y="4848225"/>
            <a:ext cx="1390650" cy="1000125"/>
          </a:xfrm>
          <a:prstGeom xmlns:a="http://schemas.openxmlformats.org/drawingml/2006/main" prst="rect">
            <a:avLst/>
          </a:prstGeom>
          <a:solidFill xmlns:a="http://schemas.openxmlformats.org/drawingml/2006/main">
            <a:srgbClr val="FFFFFF"/>
          </a:solidFill>
          <a:ln xmlns:a="http://schemas.openxmlformats.org/drawingml/2006/main" w="16193">
            <a:solidFill>
              <a:srgbClr val="DAC7CE"/>
            </a:solidFill>
            <a:prstDash val="solid"/>
          </a:ln>
        </p:spPr>
      </p:sp>
      <p:sp>
        <p:nvSpPr>
          <p:cNvPr id="34" name="pc-title">
            <a:extLst xmlns:a="http://schemas.openxmlformats.org/drawingml/2006/main">
              <a:ext uri="{FF2B5EF4-FFF2-40B4-BE49-F238E27FC236}">
                <a16:creationId xmlns:a16="http://schemas.microsoft.com/office/drawing/2014/main" id="{7FBDFAC6-83E6-4340-A21A-6962D669FDDD}"/>
              </a:ext>
            </a:extLst>
          </p:cNvPr>
          <p:cNvSpPr>
            <a:spLocks xmlns:a="http://schemas.openxmlformats.org/drawingml/2006/main" noGrp="1"/>
          </p:cNvSpPr>
          <p:nvPr/>
        </p:nvSpPr>
        <p:spPr>
          <a:xfrm xmlns:a="http://schemas.openxmlformats.org/drawingml/2006/main">
            <a:off x="10382250" y="5000625"/>
            <a:ext cx="116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b="1">
                <a:solidFill>
                  <a:srgbClr val="8C1D40"/>
                </a:solidFill>
                <a:latin typeface="Arial"/>
                <a:ea typeface="Arial"/>
                <a:cs typeface="Arial"/>
              </a:defRPr>
            </a:pPr>
            <a:r>
              <a:rPr sz="2025" b="1">
                <a:solidFill>
                  <a:srgbClr val="8C1D40"/>
                </a:solidFill>
                <a:latin typeface="Arial"/>
                <a:ea typeface="Arial"/>
                <a:cs typeface="Arial"/>
              </a:rPr>
              <a:t>PC</a:t>
            </a:r>
          </a:p>
        </p:txBody>
      </p:sp>
      <p:sp>
        <p:nvSpPr>
          <p:cNvPr id="35" name="pc-detail">
            <a:extLst xmlns:a="http://schemas.openxmlformats.org/drawingml/2006/main">
              <a:ext uri="{FF2B5EF4-FFF2-40B4-BE49-F238E27FC236}">
                <a16:creationId xmlns:a16="http://schemas.microsoft.com/office/drawing/2014/main" id="{BAE5C239-DA0D-4B38-867B-CE2E4AF17BC2}"/>
              </a:ext>
            </a:extLst>
          </p:cNvPr>
          <p:cNvSpPr>
            <a:spLocks xmlns:a="http://schemas.openxmlformats.org/drawingml/2006/main" noGrp="1"/>
          </p:cNvSpPr>
          <p:nvPr/>
        </p:nvSpPr>
        <p:spPr>
          <a:xfrm xmlns:a="http://schemas.openxmlformats.org/drawingml/2006/main">
            <a:off x="10363200" y="539115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252525"/>
                </a:solidFill>
                <a:latin typeface="Arial"/>
                <a:ea typeface="Arial"/>
                <a:cs typeface="Arial"/>
              </a:defRPr>
            </a:pPr>
            <a:r>
              <a:rPr sz="1725" b="0">
                <a:solidFill>
                  <a:srgbClr val="252525"/>
                </a:solidFill>
                <a:latin typeface="Arial"/>
                <a:ea typeface="Arial"/>
                <a:cs typeface="Arial"/>
              </a:rPr>
              <a:t>Dashboard</a:t>
            </a:r>
          </a:p>
        </p:txBody>
      </p:sp>
      <p:cxnSp>
        <p:nvCxnSpPr>
          <p:cNvPr id="157" name=""/>
          <p:cNvCxnSpPr>
            <a:stCxn xmlns:a="http://schemas.openxmlformats.org/drawingml/2006/main" id="5" idx="2"/>
            <a:endCxn xmlns:a="http://schemas.openxmlformats.org/drawingml/2006/main" id="24" idx="0"/>
          </p:cNvCxnSpPr>
          <p:nvPr/>
        </p:nvCxnSpPr>
        <p:spPr>
          <a:xfrm xmlns:a="http://schemas.openxmlformats.org/drawingml/2006/main" flipH="1">
            <a:off x="4148138" y="4257675"/>
            <a:ext cx="2990850" cy="590550"/>
          </a:xfrm>
          <a:prstGeom xmlns:a="http://schemas.openxmlformats.org/drawingml/2006/main" prst="bentConnector4">
            <a:avLst>
              <a:gd name="adj1" fmla="val 0"/>
              <a:gd name="adj2" fmla="val 50000"/>
            </a:avLst>
          </a:prstGeom>
          <a:ln xmlns:a="http://schemas.openxmlformats.org/drawingml/2006/main" w="23813">
            <a:solidFill>
              <a:srgbClr val="8C1D40"/>
            </a:solidFill>
            <a:prstDash val="solid"/>
            <a:tailEnd type="triangle" w="med" len="med"/>
          </a:ln>
        </p:spPr>
      </p:cxnSp>
      <p:cxnSp>
        <p:nvCxnSpPr>
          <p:cNvPr id="158" name=""/>
          <p:cNvCxnSpPr>
            <a:stCxn xmlns:a="http://schemas.openxmlformats.org/drawingml/2006/main" id="24" idx="3"/>
            <a:endCxn xmlns:a="http://schemas.openxmlformats.org/drawingml/2006/main" id="27" idx="1"/>
          </p:cNvCxnSpPr>
          <p:nvPr/>
        </p:nvCxnSpPr>
        <p:spPr>
          <a:xfrm xmlns:a="http://schemas.openxmlformats.org/drawingml/2006/main">
            <a:off x="5353050" y="5348288"/>
            <a:ext cx="495300"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cxnSp>
        <p:nvCxnSpPr>
          <p:cNvPr id="159" name=""/>
          <p:cNvCxnSpPr>
            <a:stCxn xmlns:a="http://schemas.openxmlformats.org/drawingml/2006/main" id="27" idx="3"/>
            <a:endCxn xmlns:a="http://schemas.openxmlformats.org/drawingml/2006/main" id="30" idx="1"/>
          </p:cNvCxnSpPr>
          <p:nvPr/>
        </p:nvCxnSpPr>
        <p:spPr>
          <a:xfrm xmlns:a="http://schemas.openxmlformats.org/drawingml/2006/main">
            <a:off x="7543800" y="5348288"/>
            <a:ext cx="485775"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cxnSp>
        <p:nvCxnSpPr>
          <p:cNvPr id="160" name=""/>
          <p:cNvCxnSpPr>
            <a:stCxn xmlns:a="http://schemas.openxmlformats.org/drawingml/2006/main" id="30" idx="3"/>
            <a:endCxn xmlns:a="http://schemas.openxmlformats.org/drawingml/2006/main" id="33" idx="1"/>
          </p:cNvCxnSpPr>
          <p:nvPr/>
        </p:nvCxnSpPr>
        <p:spPr>
          <a:xfrm xmlns:a="http://schemas.openxmlformats.org/drawingml/2006/main">
            <a:off x="9782175" y="5348288"/>
            <a:ext cx="485775" cy="0"/>
          </a:xfrm>
          <a:prstGeom xmlns:a="http://schemas.openxmlformats.org/drawingml/2006/main" prst="straightConnector1">
            <a:avLst/>
          </a:prstGeom>
          <a:ln xmlns:a="http://schemas.openxmlformats.org/drawingml/2006/main" w="23813">
            <a:solidFill>
              <a:srgbClr val="8C1D40"/>
            </a:solidFill>
            <a:prstDash val="solid"/>
            <a:tailEnd type="triangle" w="med" len="med"/>
          </a:ln>
        </p:spPr>
      </p:cxnSp>
      <p:sp>
        <p:nvSpPr>
          <p:cNvPr id="40" name="observation-label">
            <a:extLst xmlns:a="http://schemas.openxmlformats.org/drawingml/2006/main">
              <a:ext uri="{FF2B5EF4-FFF2-40B4-BE49-F238E27FC236}">
                <a16:creationId xmlns:a16="http://schemas.microsoft.com/office/drawing/2014/main" id="{7FAD0827-A126-4C32-A103-481C39E391F5}"/>
              </a:ext>
            </a:extLst>
          </p:cNvPr>
          <p:cNvSpPr>
            <a:spLocks xmlns:a="http://schemas.openxmlformats.org/drawingml/2006/main" noGrp="1"/>
          </p:cNvSpPr>
          <p:nvPr/>
        </p:nvSpPr>
        <p:spPr>
          <a:xfrm xmlns:a="http://schemas.openxmlformats.org/drawingml/2006/main">
            <a:off x="533400" y="4514850"/>
            <a:ext cx="4752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b="1">
                <a:solidFill>
                  <a:srgbClr val="58545A"/>
                </a:solidFill>
                <a:latin typeface="Arial"/>
                <a:ea typeface="Arial"/>
                <a:cs typeface="Arial"/>
              </a:defRPr>
            </a:pPr>
            <a:r>
              <a:rPr sz="1575" b="1">
                <a:solidFill>
                  <a:srgbClr val="58545A"/>
                </a:solidFill>
                <a:latin typeface="Arial"/>
                <a:ea typeface="Arial"/>
                <a:cs typeface="Arial"/>
              </a:rPr>
              <a:t>BUFFERED OBSERVATION PATH</a:t>
            </a:r>
          </a:p>
        </p:txBody>
      </p:sp>
      <p:sp>
        <p:nvSpPr>
          <p:cNvPr id="41" name="takeaway-rule">
            <a:extLst xmlns:a="http://schemas.openxmlformats.org/drawingml/2006/main">
              <a:ext uri="{FF2B5EF4-FFF2-40B4-BE49-F238E27FC236}">
                <a16:creationId xmlns:a16="http://schemas.microsoft.com/office/drawing/2014/main" id="{19FBA4A3-27B1-4981-BA90-8F977AEA8024}"/>
              </a:ext>
            </a:extLst>
          </p:cNvPr>
          <p:cNvSpPr>
            <a:spLocks xmlns:a="http://schemas.openxmlformats.org/drawingml/2006/main" noGrp="1"/>
          </p:cNvSpPr>
          <p:nvPr/>
        </p:nvSpPr>
        <p:spPr>
          <a:xfrm xmlns:a="http://schemas.openxmlformats.org/drawingml/2006/main">
            <a:off x="533400" y="6238875"/>
            <a:ext cx="11125200" cy="28575"/>
          </a:xfrm>
          <a:prstGeom xmlns:a="http://schemas.openxmlformats.org/drawingml/2006/main" prst="rect">
            <a:avLst/>
          </a:prstGeom>
          <a:solidFill xmlns:a="http://schemas.openxmlformats.org/drawingml/2006/main">
            <a:srgbClr val="FFC627"/>
          </a:solidFill>
          <a:ln xmlns:a="http://schemas.openxmlformats.org/drawingml/2006/main" w="0">
            <a:noFill/>
            <a:prstDash val="solid"/>
          </a:ln>
        </p:spPr>
      </p:sp>
      <p:sp>
        <p:nvSpPr>
          <p:cNvPr id="42" name="takeaway">
            <a:extLst xmlns:a="http://schemas.openxmlformats.org/drawingml/2006/main">
              <a:ext uri="{FF2B5EF4-FFF2-40B4-BE49-F238E27FC236}">
                <a16:creationId xmlns:a16="http://schemas.microsoft.com/office/drawing/2014/main" id="{EBE7A18B-0440-42A3-AA15-C597DC215315}"/>
              </a:ext>
            </a:extLst>
          </p:cNvPr>
          <p:cNvSpPr>
            <a:spLocks xmlns:a="http://schemas.openxmlformats.org/drawingml/2006/main" noGrp="1"/>
          </p:cNvSpPr>
          <p:nvPr/>
        </p:nvSpPr>
        <p:spPr>
          <a:xfrm xmlns:a="http://schemas.openxmlformats.org/drawingml/2006/main">
            <a:off x="533400" y="6362700"/>
            <a:ext cx="1112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b="1">
                <a:solidFill>
                  <a:srgbClr val="8C1D40"/>
                </a:solidFill>
                <a:latin typeface="Arial"/>
                <a:ea typeface="Arial"/>
                <a:cs typeface="Arial"/>
              </a:defRPr>
            </a:pPr>
            <a:r>
              <a:rPr sz="2025" b="1">
                <a:solidFill>
                  <a:srgbClr val="8C1D40"/>
                </a:solidFill>
                <a:latin typeface="Arial"/>
                <a:ea typeface="Arial"/>
                <a:cs typeface="Arial"/>
              </a:rPr>
              <a:t>FPGA processes signals. ARM handles control and transport.</a:t>
            </a:r>
          </a:p>
        </p:txBody>
      </p:sp>
      <p:sp>
        <p:nvSpPr>
          <p:cNvPr id="82" name="presenter-name">
            <a:extLst xmlns:a="http://schemas.openxmlformats.org/drawingml/2006/main">
              <a:ext uri="{FF2B5EF4-FFF2-40B4-BE49-F238E27FC236}">
                <a16:creationId xmlns:a16="http://schemas.microsoft.com/office/drawing/2014/main" id="{DFFBCF70-FB81-40A8-A765-203667EE5E34}"/>
              </a:ext>
            </a:extLst>
          </p:cNvPr>
          <p:cNvSpPr>
            <a:spLocks xmlns:a="http://schemas.openxmlformats.org/drawingml/2006/main" noGrp="1"/>
          </p:cNvSpPr>
          <p:nvPr/>
        </p:nvSpPr>
        <p:spPr>
          <a:xfrm xmlns:a="http://schemas.openxmlformats.org/drawingml/2006/main">
            <a:off x="10144125" y="962025"/>
            <a:ext cx="1514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950" b="0">
                <a:solidFill>
                  <a:srgbClr val="FFFFFF"/>
                </a:solidFill>
                <a:latin typeface="Arial"/>
                <a:ea typeface="Arial"/>
                <a:cs typeface="Arial"/>
              </a:defRPr>
            </a:pPr>
            <a:r>
              <a:rPr sz="1950" b="0">
                <a:solidFill>
                  <a:srgbClr val="FFFFFF"/>
                </a:solidFill>
                <a:latin typeface="Arial"/>
                <a:ea typeface="Arial"/>
                <a:cs typeface="Arial"/>
              </a:rPr>
              <a:t/>
            </a:r>
          </a:p>
        </p:txBody>
      </p:sp>
    </p:spTree>
    <p:extLst>
      <p:ext uri="{BB962C8B-B14F-4D97-AF65-F5344CB8AC3E}">
        <p14:creationId xmlns:p14="http://schemas.microsoft.com/office/powerpoint/2010/main" val="230947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2026-09-22T04:32:41.0530000Z</dcterms:created>
  <dcterms:modified xsi:type="dcterms:W3CDTF">2026-09-22T04:32:41.0540000Z</dcterms:modified>
</coreProperties>
</file>